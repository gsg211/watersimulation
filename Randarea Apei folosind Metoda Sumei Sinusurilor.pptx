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5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85347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5152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7752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9498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5/24/2026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351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5/24/2026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6570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5/24/2026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9373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70764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10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5/24/2026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062278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62802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59082598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320338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15774144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520550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01553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9070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7DA38F49-B3E2-4BF0-BEC7-C30D34ABBB8D}" type="datetime1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11449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756" r:id="rId12"/>
    <p:sldLayoutId id="2147483757" r:id="rId13"/>
    <p:sldLayoutId id="2147483758" r:id="rId14"/>
    <p:sldLayoutId id="2147483759" r:id="rId15"/>
    <p:sldLayoutId id="2147483760" r:id="rId16"/>
    <p:sldLayoutId id="2147483761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ACCD8C-2A38-511E-9ADC-880500772E3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it-IT" b="1" dirty="0"/>
              <a:t>Randarea Apei folosind Metoda Sumei Sinusurilor</a:t>
            </a:r>
            <a:br>
              <a:rPr lang="it-IT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5D295B-8F35-3F1A-9ED0-CA7EC0955A1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Gorea Sabin-Gabriel 1310B 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07984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51A88-9B09-129E-6FE3-F116C4446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997" y="230864"/>
            <a:ext cx="8534400" cy="1507067"/>
          </a:xfrm>
        </p:spPr>
        <p:txBody>
          <a:bodyPr/>
          <a:lstStyle/>
          <a:p>
            <a:r>
              <a:rPr lang="en-US" dirty="0" err="1"/>
              <a:t>Introducere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8189FA-3565-6B5B-0225-D0A9359D97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997" y="1584357"/>
            <a:ext cx="10877063" cy="5676522"/>
          </a:xfrm>
        </p:spPr>
        <p:txBody>
          <a:bodyPr>
            <a:normAutofit/>
          </a:bodyPr>
          <a:lstStyle/>
          <a:p>
            <a:r>
              <a:rPr lang="en-US" sz="2400" dirty="0" err="1">
                <a:solidFill>
                  <a:schemeClr val="tx1"/>
                </a:solidFill>
              </a:rPr>
              <a:t>Randarea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apei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este</a:t>
            </a:r>
            <a:r>
              <a:rPr lang="en-US" sz="2400" dirty="0">
                <a:solidFill>
                  <a:schemeClr val="tx1"/>
                </a:solidFill>
              </a:rPr>
              <a:t> un aspect important </a:t>
            </a:r>
            <a:r>
              <a:rPr lang="en-US" sz="2400" dirty="0" err="1">
                <a:solidFill>
                  <a:schemeClr val="tx1"/>
                </a:solidFill>
              </a:rPr>
              <a:t>pentru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domeniul</a:t>
            </a:r>
            <a:r>
              <a:rPr lang="en-US" sz="2400" dirty="0">
                <a:solidFill>
                  <a:schemeClr val="tx1"/>
                </a:solidFill>
              </a:rPr>
              <a:t> de Real Time Rendering, </a:t>
            </a:r>
            <a:r>
              <a:rPr lang="en-US" sz="2400" dirty="0" err="1">
                <a:solidFill>
                  <a:schemeClr val="tx1"/>
                </a:solidFill>
              </a:rPr>
              <a:t>fiind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regăsită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atât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în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industria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jocurilor</a:t>
            </a:r>
            <a:r>
              <a:rPr lang="en-US" sz="2400" dirty="0">
                <a:solidFill>
                  <a:schemeClr val="tx1"/>
                </a:solidFill>
              </a:rPr>
              <a:t> video </a:t>
            </a:r>
            <a:r>
              <a:rPr lang="en-US" sz="2400" dirty="0" err="1">
                <a:solidFill>
                  <a:schemeClr val="tx1"/>
                </a:solidFill>
              </a:rPr>
              <a:t>cât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și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cea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cinematografică</a:t>
            </a:r>
            <a:r>
              <a:rPr lang="en-US" sz="2400" dirty="0">
                <a:solidFill>
                  <a:schemeClr val="tx1"/>
                </a:solidFill>
              </a:rPr>
              <a:t>.  </a:t>
            </a:r>
            <a:r>
              <a:rPr lang="en-US" sz="2400" dirty="0" err="1">
                <a:solidFill>
                  <a:schemeClr val="tx1"/>
                </a:solidFill>
              </a:rPr>
              <a:t>Deși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există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metode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științifice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pentru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simularea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apei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bazate</a:t>
            </a:r>
            <a:r>
              <a:rPr lang="en-US" sz="2400" dirty="0">
                <a:solidFill>
                  <a:schemeClr val="tx1"/>
                </a:solidFill>
              </a:rPr>
              <a:t> pe </a:t>
            </a:r>
            <a:r>
              <a:rPr lang="en-US" sz="2400" dirty="0" err="1">
                <a:solidFill>
                  <a:schemeClr val="tx1"/>
                </a:solidFill>
              </a:rPr>
              <a:t>Ecuațiile</a:t>
            </a:r>
            <a:r>
              <a:rPr lang="en-US" sz="2400" dirty="0">
                <a:solidFill>
                  <a:schemeClr val="tx1"/>
                </a:solidFill>
              </a:rPr>
              <a:t> Navier-Stokes, </a:t>
            </a:r>
            <a:r>
              <a:rPr lang="en-US" sz="2400" dirty="0" err="1">
                <a:solidFill>
                  <a:schemeClr val="tx1"/>
                </a:solidFill>
              </a:rPr>
              <a:t>acele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metode</a:t>
            </a:r>
            <a:r>
              <a:rPr lang="en-US" sz="2400" dirty="0">
                <a:solidFill>
                  <a:schemeClr val="tx1"/>
                </a:solidFill>
              </a:rPr>
              <a:t> nu sunt </a:t>
            </a:r>
            <a:r>
              <a:rPr lang="en-US" sz="2400" dirty="0" err="1">
                <a:solidFill>
                  <a:schemeClr val="tx1"/>
                </a:solidFill>
              </a:rPr>
              <a:t>fezabile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într</a:t>
            </a:r>
            <a:r>
              <a:rPr lang="en-US" sz="2400" dirty="0">
                <a:solidFill>
                  <a:schemeClr val="tx1"/>
                </a:solidFill>
              </a:rPr>
              <a:t>-un context </a:t>
            </a:r>
            <a:r>
              <a:rPr lang="en-US" sz="2400" dirty="0" err="1">
                <a:solidFill>
                  <a:schemeClr val="tx1"/>
                </a:solidFill>
              </a:rPr>
              <a:t>în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timp</a:t>
            </a:r>
            <a:r>
              <a:rPr lang="en-US" sz="2400" dirty="0">
                <a:solidFill>
                  <a:schemeClr val="tx1"/>
                </a:solidFill>
              </a:rPr>
              <a:t> real din </a:t>
            </a:r>
            <a:r>
              <a:rPr lang="en-US" sz="2400" dirty="0" err="1">
                <a:solidFill>
                  <a:schemeClr val="tx1"/>
                </a:solidFill>
              </a:rPr>
              <a:t>cauza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complexității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acestora</a:t>
            </a:r>
            <a:r>
              <a:rPr lang="en-US" sz="2400" dirty="0">
                <a:solidFill>
                  <a:schemeClr val="tx1"/>
                </a:solidFill>
              </a:rPr>
              <a:t>.</a:t>
            </a:r>
          </a:p>
          <a:p>
            <a:r>
              <a:rPr lang="en-US" sz="2400" dirty="0" err="1">
                <a:solidFill>
                  <a:schemeClr val="tx1"/>
                </a:solidFill>
              </a:rPr>
              <a:t>Obiective</a:t>
            </a:r>
            <a:r>
              <a:rPr lang="en-US" sz="2400" dirty="0">
                <a:solidFill>
                  <a:schemeClr val="tx1"/>
                </a:solidFill>
              </a:rPr>
              <a:t>:</a:t>
            </a:r>
          </a:p>
          <a:p>
            <a:pPr lvl="1"/>
            <a:r>
              <a:rPr lang="en-US" sz="2400" dirty="0" err="1">
                <a:solidFill>
                  <a:schemeClr val="tx1"/>
                </a:solidFill>
              </a:rPr>
              <a:t>Cameră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ce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permite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mișcarea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în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jurul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scenei</a:t>
            </a:r>
            <a:r>
              <a:rPr lang="en-US" sz="2400" dirty="0">
                <a:solidFill>
                  <a:schemeClr val="tx1"/>
                </a:solidFill>
              </a:rPr>
              <a:t> </a:t>
            </a:r>
          </a:p>
          <a:p>
            <a:pPr lvl="1"/>
            <a:r>
              <a:rPr lang="en-US" sz="2400" dirty="0" err="1">
                <a:solidFill>
                  <a:schemeClr val="tx1"/>
                </a:solidFill>
              </a:rPr>
              <a:t>Randarea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apei</a:t>
            </a:r>
            <a:r>
              <a:rPr lang="en-US" sz="2400" dirty="0">
                <a:solidFill>
                  <a:schemeClr val="tx1"/>
                </a:solidFill>
              </a:rPr>
              <a:t> </a:t>
            </a:r>
          </a:p>
          <a:p>
            <a:pPr lvl="1"/>
            <a:r>
              <a:rPr lang="en-US" sz="2400" dirty="0" err="1">
                <a:solidFill>
                  <a:schemeClr val="tx1"/>
                </a:solidFill>
              </a:rPr>
              <a:t>Realizarea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unui</a:t>
            </a:r>
            <a:r>
              <a:rPr lang="en-US" sz="2400" dirty="0">
                <a:solidFill>
                  <a:schemeClr val="tx1"/>
                </a:solidFill>
              </a:rPr>
              <a:t> skybox</a:t>
            </a:r>
          </a:p>
          <a:p>
            <a:pPr lvl="1"/>
            <a:r>
              <a:rPr lang="en-US" sz="2400" dirty="0" err="1">
                <a:solidFill>
                  <a:schemeClr val="tx1"/>
                </a:solidFill>
              </a:rPr>
              <a:t>Reflexii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pentru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apă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folosind</a:t>
            </a:r>
            <a:r>
              <a:rPr lang="en-US" sz="2400" dirty="0">
                <a:solidFill>
                  <a:schemeClr val="tx1"/>
                </a:solidFill>
              </a:rPr>
              <a:t> skybox-ul </a:t>
            </a:r>
          </a:p>
          <a:p>
            <a:pPr lvl="1"/>
            <a:r>
              <a:rPr lang="en-US" sz="2400" dirty="0" err="1">
                <a:solidFill>
                  <a:schemeClr val="tx1"/>
                </a:solidFill>
              </a:rPr>
              <a:t>Realizarea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unui</a:t>
            </a:r>
            <a:r>
              <a:rPr lang="en-US" sz="2400" dirty="0">
                <a:solidFill>
                  <a:schemeClr val="tx1"/>
                </a:solidFill>
              </a:rPr>
              <a:t> model complex </a:t>
            </a:r>
            <a:r>
              <a:rPr lang="en-US" sz="2400" dirty="0" err="1">
                <a:solidFill>
                  <a:schemeClr val="tx1"/>
                </a:solidFill>
              </a:rPr>
              <a:t>ce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plutește</a:t>
            </a:r>
            <a:r>
              <a:rPr lang="en-US" sz="2400" dirty="0">
                <a:solidFill>
                  <a:schemeClr val="tx1"/>
                </a:solidFill>
              </a:rPr>
              <a:t> pe </a:t>
            </a:r>
            <a:r>
              <a:rPr lang="en-US" sz="2400" dirty="0" err="1">
                <a:solidFill>
                  <a:schemeClr val="tx1"/>
                </a:solidFill>
              </a:rPr>
              <a:t>apă</a:t>
            </a:r>
            <a:endParaRPr lang="en-US" sz="2400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075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ipple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058AE-E069-9754-C033-B666DB1BF0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5693" y="81482"/>
            <a:ext cx="10623566" cy="1507067"/>
          </a:xfrm>
        </p:spPr>
        <p:txBody>
          <a:bodyPr/>
          <a:lstStyle/>
          <a:p>
            <a:r>
              <a:rPr lang="en-US" dirty="0"/>
              <a:t>Metode de </a:t>
            </a:r>
            <a:r>
              <a:rPr lang="en-US" dirty="0" err="1"/>
              <a:t>simulare</a:t>
            </a:r>
            <a:r>
              <a:rPr lang="en-US" dirty="0"/>
              <a:t> a </a:t>
            </a:r>
            <a:r>
              <a:rPr lang="en-US" dirty="0" err="1"/>
              <a:t>apei</a:t>
            </a:r>
            <a:r>
              <a:rPr lang="en-US" dirty="0"/>
              <a:t> IN TIMP REAL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9BC886-B973-8C46-3934-29EC1019F8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1037" y="1197153"/>
            <a:ext cx="4937655" cy="3615267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Sum of Sines</a:t>
            </a:r>
            <a:r>
              <a:rPr lang="en-US" dirty="0">
                <a:solidFill>
                  <a:schemeClr val="tx1"/>
                </a:solidFill>
              </a:rPr>
              <a:t> </a:t>
            </a:r>
          </a:p>
          <a:p>
            <a:pPr marL="457200" lvl="1" indent="0">
              <a:buNone/>
            </a:pPr>
            <a:r>
              <a:rPr lang="en-US" dirty="0" err="1">
                <a:solidFill>
                  <a:schemeClr val="tx1"/>
                </a:solidFill>
              </a:rPr>
              <a:t>Simplu</a:t>
            </a:r>
            <a:r>
              <a:rPr lang="en-US" dirty="0">
                <a:solidFill>
                  <a:schemeClr val="tx1"/>
                </a:solidFill>
              </a:rPr>
              <a:t> de </a:t>
            </a:r>
            <a:r>
              <a:rPr lang="en-US" dirty="0" err="1">
                <a:solidFill>
                  <a:schemeClr val="tx1"/>
                </a:solidFill>
              </a:rPr>
              <a:t>implementat</a:t>
            </a:r>
            <a:endParaRPr lang="en-US" dirty="0">
              <a:solidFill>
                <a:schemeClr val="tx1"/>
              </a:solidFill>
            </a:endParaRPr>
          </a:p>
          <a:p>
            <a:pPr marL="457200" lvl="1" indent="0">
              <a:buNone/>
            </a:pPr>
            <a:r>
              <a:rPr lang="en-US" dirty="0">
                <a:solidFill>
                  <a:schemeClr val="tx1"/>
                </a:solidFill>
              </a:rPr>
              <a:t>Performant</a:t>
            </a:r>
          </a:p>
          <a:p>
            <a:pPr marL="457200" lvl="1" indent="0">
              <a:buNone/>
            </a:pPr>
            <a:r>
              <a:rPr lang="en-US" dirty="0" err="1">
                <a:solidFill>
                  <a:schemeClr val="tx1"/>
                </a:solidFill>
              </a:rPr>
              <a:t>Parametri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aleși</a:t>
            </a:r>
            <a:r>
              <a:rPr lang="en-US" dirty="0">
                <a:solidFill>
                  <a:schemeClr val="tx1"/>
                </a:solidFill>
              </a:rPr>
              <a:t> empiric</a:t>
            </a:r>
          </a:p>
          <a:p>
            <a:pPr marL="457200" lvl="1" indent="0">
              <a:buNone/>
            </a:pPr>
            <a:r>
              <a:rPr lang="en-US" dirty="0" err="1">
                <a:solidFill>
                  <a:schemeClr val="tx1"/>
                </a:solidFill>
              </a:rPr>
              <a:t>Vizibil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repetitiv</a:t>
            </a:r>
            <a:r>
              <a:rPr lang="en-US" dirty="0">
                <a:solidFill>
                  <a:schemeClr val="tx1"/>
                </a:solidFill>
              </a:rPr>
              <a:t> de sus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13460D-8DD7-33BC-5A31-FA26EBC469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4213" y="3758320"/>
            <a:ext cx="4934479" cy="3615266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FFT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i="1" dirty="0">
                <a:solidFill>
                  <a:schemeClr val="tx1"/>
                </a:solidFill>
              </a:rPr>
              <a:t>(Fast Fourier Transform)</a:t>
            </a:r>
            <a:endParaRPr lang="en-US" dirty="0">
              <a:solidFill>
                <a:schemeClr val="tx1"/>
              </a:solidFill>
            </a:endParaRPr>
          </a:p>
          <a:p>
            <a:pPr marL="457200" lvl="1" indent="0">
              <a:buNone/>
            </a:pPr>
            <a:r>
              <a:rPr lang="en-US" dirty="0" err="1">
                <a:solidFill>
                  <a:schemeClr val="tx1"/>
                </a:solidFill>
              </a:rPr>
              <a:t>Rezultate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foarte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realiste</a:t>
            </a:r>
            <a:endParaRPr lang="en-US" dirty="0">
              <a:solidFill>
                <a:schemeClr val="tx1"/>
              </a:solidFill>
            </a:endParaRPr>
          </a:p>
          <a:p>
            <a:pPr marL="457200" lvl="1" indent="0">
              <a:buNone/>
            </a:pPr>
            <a:r>
              <a:rPr lang="en-US" dirty="0">
                <a:solidFill>
                  <a:schemeClr val="tx1"/>
                </a:solidFill>
              </a:rPr>
              <a:t>Grad mare de </a:t>
            </a:r>
            <a:r>
              <a:rPr lang="en-US" dirty="0" err="1">
                <a:solidFill>
                  <a:schemeClr val="tx1"/>
                </a:solidFill>
              </a:rPr>
              <a:t>parametrizare</a:t>
            </a:r>
            <a:endParaRPr lang="en-US" dirty="0">
              <a:solidFill>
                <a:schemeClr val="tx1"/>
              </a:solidFill>
            </a:endParaRPr>
          </a:p>
          <a:p>
            <a:pPr marL="457200" lvl="1" indent="0">
              <a:buNone/>
            </a:pPr>
            <a:r>
              <a:rPr lang="en-US" dirty="0" err="1">
                <a:solidFill>
                  <a:schemeClr val="tx1"/>
                </a:solidFill>
              </a:rPr>
              <a:t>Complexitate</a:t>
            </a:r>
            <a:r>
              <a:rPr lang="en-US" dirty="0">
                <a:solidFill>
                  <a:schemeClr val="tx1"/>
                </a:solidFill>
              </a:rPr>
              <a:t> de </a:t>
            </a:r>
            <a:r>
              <a:rPr lang="en-US" dirty="0" err="1">
                <a:solidFill>
                  <a:schemeClr val="tx1"/>
                </a:solidFill>
              </a:rPr>
              <a:t>implementare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ridicată</a:t>
            </a:r>
            <a:endParaRPr lang="en-US" dirty="0">
              <a:solidFill>
                <a:schemeClr val="tx1"/>
              </a:solidFill>
            </a:endParaRPr>
          </a:p>
          <a:p>
            <a:endParaRPr lang="en-US" dirty="0"/>
          </a:p>
        </p:txBody>
      </p:sp>
      <p:pic>
        <p:nvPicPr>
          <p:cNvPr id="5" name="Picture 4" descr="AC4 Wallpapers - Top Free AC4 Backgrounds - WallpaperAccess">
            <a:extLst>
              <a:ext uri="{FF2B5EF4-FFF2-40B4-BE49-F238E27FC236}">
                <a16:creationId xmlns:a16="http://schemas.microsoft.com/office/drawing/2014/main" id="{0F381AE4-94EF-8503-AC19-AADABCE38D5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6048" b="-313"/>
          <a:stretch>
            <a:fillRect/>
          </a:stretch>
        </p:blipFill>
        <p:spPr>
          <a:xfrm>
            <a:off x="5929773" y="1493822"/>
            <a:ext cx="5348254" cy="2535023"/>
          </a:xfrm>
          <a:prstGeom prst="rect">
            <a:avLst/>
          </a:prstGeom>
        </p:spPr>
      </p:pic>
      <p:pic>
        <p:nvPicPr>
          <p:cNvPr id="8" name="Picture 7" descr="Water/Rain Makes Games Look Better | Page 3 | ResetEra">
            <a:extLst>
              <a:ext uri="{FF2B5EF4-FFF2-40B4-BE49-F238E27FC236}">
                <a16:creationId xmlns:a16="http://schemas.microsoft.com/office/drawing/2014/main" id="{C25619A5-94DA-D4FD-6862-07EA4049996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1716"/>
          <a:stretch>
            <a:fillRect/>
          </a:stretch>
        </p:blipFill>
        <p:spPr>
          <a:xfrm>
            <a:off x="5929773" y="4172073"/>
            <a:ext cx="5383430" cy="2370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63711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ipple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3748F1-F350-489E-B658-DD72EB082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2731" y="250310"/>
            <a:ext cx="8534400" cy="1507067"/>
          </a:xfrm>
        </p:spPr>
        <p:txBody>
          <a:bodyPr/>
          <a:lstStyle/>
          <a:p>
            <a:r>
              <a:rPr lang="en-US" dirty="0" err="1"/>
              <a:t>Diagrama</a:t>
            </a:r>
            <a:r>
              <a:rPr lang="en-US" dirty="0"/>
              <a:t> de </a:t>
            </a:r>
            <a:r>
              <a:rPr lang="en-US" dirty="0" err="1"/>
              <a:t>clase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2C1C8D7-C922-801E-5256-A5790EAD0D2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02731" y="1561149"/>
            <a:ext cx="5834283" cy="4764959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C0ED8A1-D80E-D765-F897-DD259C6FF0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27549" y="1925839"/>
            <a:ext cx="4934479" cy="3615266"/>
          </a:xfrm>
        </p:spPr>
        <p:txBody>
          <a:bodyPr>
            <a:normAutofit/>
          </a:bodyPr>
          <a:lstStyle/>
          <a:p>
            <a:r>
              <a:rPr lang="en-US" sz="2800" dirty="0" err="1">
                <a:solidFill>
                  <a:schemeClr val="tx1"/>
                </a:solidFill>
              </a:rPr>
              <a:t>Pentru</a:t>
            </a:r>
            <a:r>
              <a:rPr lang="en-US" sz="2800" dirty="0">
                <a:solidFill>
                  <a:schemeClr val="tx1"/>
                </a:solidFill>
              </a:rPr>
              <a:t> a </a:t>
            </a:r>
            <a:r>
              <a:rPr lang="en-US" sz="2800" dirty="0" err="1">
                <a:solidFill>
                  <a:schemeClr val="tx1"/>
                </a:solidFill>
              </a:rPr>
              <a:t>gestiona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mai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ușor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fiecare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obiect</a:t>
            </a:r>
            <a:r>
              <a:rPr lang="en-US" sz="2800" dirty="0">
                <a:solidFill>
                  <a:schemeClr val="tx1"/>
                </a:solidFill>
              </a:rPr>
              <a:t> al </a:t>
            </a:r>
            <a:r>
              <a:rPr lang="en-US" sz="2800" dirty="0" err="1">
                <a:solidFill>
                  <a:schemeClr val="tx1"/>
                </a:solidFill>
              </a:rPr>
              <a:t>scenei</a:t>
            </a:r>
            <a:r>
              <a:rPr lang="en-US" sz="2800" dirty="0">
                <a:solidFill>
                  <a:schemeClr val="tx1"/>
                </a:solidFill>
              </a:rPr>
              <a:t> am </a:t>
            </a:r>
            <a:r>
              <a:rPr lang="en-US" sz="2800" dirty="0" err="1">
                <a:solidFill>
                  <a:schemeClr val="tx1"/>
                </a:solidFill>
              </a:rPr>
              <a:t>creat</a:t>
            </a:r>
            <a:r>
              <a:rPr lang="en-US" sz="2800" dirty="0">
                <a:solidFill>
                  <a:schemeClr val="tx1"/>
                </a:solidFill>
              </a:rPr>
              <a:t> o </a:t>
            </a:r>
            <a:r>
              <a:rPr lang="en-US" sz="2800" dirty="0" err="1">
                <a:solidFill>
                  <a:schemeClr val="tx1"/>
                </a:solidFill>
              </a:rPr>
              <a:t>clasă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abstractă</a:t>
            </a:r>
            <a:r>
              <a:rPr lang="en-US" sz="2800" dirty="0">
                <a:solidFill>
                  <a:schemeClr val="tx1"/>
                </a:solidFill>
              </a:rPr>
              <a:t> de </a:t>
            </a:r>
            <a:r>
              <a:rPr lang="en-US" sz="2800" dirty="0" err="1">
                <a:solidFill>
                  <a:schemeClr val="tx1"/>
                </a:solidFill>
              </a:rPr>
              <a:t>bază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numită</a:t>
            </a:r>
            <a:r>
              <a:rPr lang="en-US" sz="2800" dirty="0">
                <a:solidFill>
                  <a:schemeClr val="tx1"/>
                </a:solidFill>
              </a:rPr>
              <a:t> Entity </a:t>
            </a:r>
            <a:r>
              <a:rPr lang="en-US" sz="2800" dirty="0" err="1">
                <a:solidFill>
                  <a:schemeClr val="tx1"/>
                </a:solidFill>
              </a:rPr>
              <a:t>ce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este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moștenită</a:t>
            </a:r>
            <a:r>
              <a:rPr lang="en-US" sz="2800" dirty="0">
                <a:solidFill>
                  <a:schemeClr val="tx1"/>
                </a:solidFill>
              </a:rPr>
              <a:t> de </a:t>
            </a:r>
            <a:r>
              <a:rPr lang="en-US" sz="2800" dirty="0" err="1">
                <a:solidFill>
                  <a:schemeClr val="tx1"/>
                </a:solidFill>
              </a:rPr>
              <a:t>fiecare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obiect</a:t>
            </a:r>
            <a:r>
              <a:rPr lang="en-US" sz="2800" dirty="0">
                <a:solidFill>
                  <a:schemeClr val="tx1"/>
                </a:solidFill>
              </a:rPr>
              <a:t> (</a:t>
            </a:r>
            <a:r>
              <a:rPr lang="en-US" sz="2800" dirty="0" err="1">
                <a:solidFill>
                  <a:schemeClr val="tx1"/>
                </a:solidFill>
              </a:rPr>
              <a:t>apă</a:t>
            </a:r>
            <a:r>
              <a:rPr lang="en-US" sz="2800" dirty="0">
                <a:solidFill>
                  <a:schemeClr val="tx1"/>
                </a:solidFill>
              </a:rPr>
              <a:t>, skybox, model).</a:t>
            </a:r>
          </a:p>
        </p:txBody>
      </p:sp>
    </p:spTree>
    <p:extLst>
      <p:ext uri="{BB962C8B-B14F-4D97-AF65-F5344CB8AC3E}">
        <p14:creationId xmlns:p14="http://schemas.microsoft.com/office/powerpoint/2010/main" val="25610497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ipple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62D4AEC-497A-2F68-3614-0638F45ABB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0090" y="0"/>
            <a:ext cx="8534400" cy="1507067"/>
          </a:xfrm>
        </p:spPr>
        <p:txBody>
          <a:bodyPr/>
          <a:lstStyle/>
          <a:p>
            <a:r>
              <a:rPr lang="en-US" dirty="0"/>
              <a:t>Apa: Vertex SHADER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2C281663-C1F3-2E16-83FF-FC09530285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0090" y="643841"/>
            <a:ext cx="10789292" cy="4296302"/>
          </a:xfrm>
        </p:spPr>
        <p:txBody>
          <a:bodyPr>
            <a:normAutofit/>
          </a:bodyPr>
          <a:lstStyle/>
          <a:p>
            <a:r>
              <a:rPr lang="en-US" sz="2400" dirty="0" err="1">
                <a:solidFill>
                  <a:schemeClr val="tx1"/>
                </a:solidFill>
              </a:rPr>
              <a:t>Scopul</a:t>
            </a:r>
            <a:r>
              <a:rPr lang="en-US" sz="2400" dirty="0">
                <a:solidFill>
                  <a:schemeClr val="tx1"/>
                </a:solidFill>
              </a:rPr>
              <a:t> vertex </a:t>
            </a:r>
            <a:r>
              <a:rPr lang="en-US" sz="2400" dirty="0" err="1">
                <a:solidFill>
                  <a:schemeClr val="tx1"/>
                </a:solidFill>
              </a:rPr>
              <a:t>shaderului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este</a:t>
            </a:r>
            <a:r>
              <a:rPr lang="en-US" sz="2400" dirty="0">
                <a:solidFill>
                  <a:schemeClr val="tx1"/>
                </a:solidFill>
              </a:rPr>
              <a:t> de a </a:t>
            </a:r>
            <a:r>
              <a:rPr lang="en-US" sz="2400" dirty="0" err="1">
                <a:solidFill>
                  <a:schemeClr val="tx1"/>
                </a:solidFill>
              </a:rPr>
              <a:t>modifica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componenta</a:t>
            </a:r>
            <a:r>
              <a:rPr lang="en-US" sz="2400" dirty="0">
                <a:solidFill>
                  <a:schemeClr val="tx1"/>
                </a:solidFill>
              </a:rPr>
              <a:t> Y a </a:t>
            </a:r>
            <a:r>
              <a:rPr lang="en-US" sz="2400" dirty="0" err="1">
                <a:solidFill>
                  <a:schemeClr val="tx1"/>
                </a:solidFill>
              </a:rPr>
              <a:t>planului</a:t>
            </a:r>
            <a:r>
              <a:rPr lang="en-US" sz="2400" dirty="0">
                <a:solidFill>
                  <a:schemeClr val="tx1"/>
                </a:solidFill>
              </a:rPr>
              <a:t> de </a:t>
            </a:r>
            <a:r>
              <a:rPr lang="en-US" sz="2400" dirty="0" err="1">
                <a:solidFill>
                  <a:schemeClr val="tx1"/>
                </a:solidFill>
              </a:rPr>
              <a:t>apă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pentru</a:t>
            </a:r>
            <a:r>
              <a:rPr lang="en-US" sz="2400" dirty="0">
                <a:solidFill>
                  <a:schemeClr val="tx1"/>
                </a:solidFill>
              </a:rPr>
              <a:t> a </a:t>
            </a:r>
            <a:r>
              <a:rPr lang="en-US" sz="2400" dirty="0" err="1">
                <a:solidFill>
                  <a:schemeClr val="tx1"/>
                </a:solidFill>
              </a:rPr>
              <a:t>crea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aspectul</a:t>
            </a:r>
            <a:r>
              <a:rPr lang="en-US" sz="2400" dirty="0">
                <a:solidFill>
                  <a:schemeClr val="tx1"/>
                </a:solidFill>
              </a:rPr>
              <a:t> de val.</a:t>
            </a:r>
          </a:p>
          <a:p>
            <a:r>
              <a:rPr lang="en-US" sz="2400" dirty="0" err="1">
                <a:solidFill>
                  <a:schemeClr val="tx1"/>
                </a:solidFill>
              </a:rPr>
              <a:t>În</a:t>
            </a:r>
            <a:r>
              <a:rPr lang="en-US" sz="2400" dirty="0">
                <a:solidFill>
                  <a:schemeClr val="tx1"/>
                </a:solidFill>
              </a:rPr>
              <a:t> loc de o </a:t>
            </a:r>
            <a:r>
              <a:rPr lang="en-US" sz="2400" dirty="0" err="1">
                <a:solidFill>
                  <a:schemeClr val="tx1"/>
                </a:solidFill>
              </a:rPr>
              <a:t>sinusoidă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simplă</a:t>
            </a:r>
            <a:r>
              <a:rPr lang="en-US" sz="2400" dirty="0">
                <a:solidFill>
                  <a:schemeClr val="tx1"/>
                </a:solidFill>
              </a:rPr>
              <a:t> s-a ales </a:t>
            </a:r>
            <a:r>
              <a:rPr lang="en-US" sz="2400" dirty="0" err="1">
                <a:solidFill>
                  <a:schemeClr val="tx1"/>
                </a:solidFill>
              </a:rPr>
              <a:t>funcția</a:t>
            </a:r>
            <a:r>
              <a:rPr lang="en-US" sz="2400" dirty="0">
                <a:solidFill>
                  <a:schemeClr val="tx1"/>
                </a:solidFill>
              </a:rPr>
              <a:t> exp(sin(phase) - 1.0) </a:t>
            </a:r>
            <a:r>
              <a:rPr lang="en-US" sz="2400" dirty="0" err="1">
                <a:solidFill>
                  <a:schemeClr val="tx1"/>
                </a:solidFill>
              </a:rPr>
              <a:t>ce</a:t>
            </a:r>
            <a:r>
              <a:rPr lang="en-US" sz="2400" dirty="0">
                <a:solidFill>
                  <a:schemeClr val="tx1"/>
                </a:solidFill>
              </a:rPr>
              <a:t> are un aspect </a:t>
            </a:r>
            <a:r>
              <a:rPr lang="en-US" sz="2400" dirty="0" err="1">
                <a:solidFill>
                  <a:schemeClr val="tx1"/>
                </a:solidFill>
              </a:rPr>
              <a:t>mai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apropiat</a:t>
            </a:r>
            <a:r>
              <a:rPr lang="en-US" sz="2400" dirty="0">
                <a:solidFill>
                  <a:schemeClr val="tx1"/>
                </a:solidFill>
              </a:rPr>
              <a:t> de cel al </a:t>
            </a:r>
            <a:r>
              <a:rPr lang="en-US" sz="2400" dirty="0" err="1">
                <a:solidFill>
                  <a:schemeClr val="tx1"/>
                </a:solidFill>
              </a:rPr>
              <a:t>valurilor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reale</a:t>
            </a:r>
            <a:r>
              <a:rPr lang="en-US" sz="2400" dirty="0">
                <a:solidFill>
                  <a:schemeClr val="tx1"/>
                </a:solidFill>
              </a:rPr>
              <a:t>.</a:t>
            </a:r>
          </a:p>
          <a:p>
            <a:r>
              <a:rPr lang="en-US" sz="2400" dirty="0" err="1">
                <a:solidFill>
                  <a:schemeClr val="tx1"/>
                </a:solidFill>
              </a:rPr>
              <a:t>Pentru</a:t>
            </a:r>
            <a:r>
              <a:rPr lang="en-US" sz="2400" dirty="0">
                <a:solidFill>
                  <a:schemeClr val="tx1"/>
                </a:solidFill>
              </a:rPr>
              <a:t> a </a:t>
            </a:r>
            <a:r>
              <a:rPr lang="en-US" sz="2400" dirty="0" err="1">
                <a:solidFill>
                  <a:schemeClr val="tx1"/>
                </a:solidFill>
              </a:rPr>
              <a:t>obține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rezultatul</a:t>
            </a:r>
            <a:r>
              <a:rPr lang="en-US" sz="2400" dirty="0">
                <a:solidFill>
                  <a:schemeClr val="tx1"/>
                </a:solidFill>
              </a:rPr>
              <a:t> final s-a </a:t>
            </a:r>
            <a:r>
              <a:rPr lang="en-US" sz="2400" dirty="0" err="1">
                <a:solidFill>
                  <a:schemeClr val="tx1"/>
                </a:solidFill>
              </a:rPr>
              <a:t>aplicat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algoritmul</a:t>
            </a:r>
            <a:r>
              <a:rPr lang="en-US" sz="2400" dirty="0">
                <a:solidFill>
                  <a:schemeClr val="tx1"/>
                </a:solidFill>
              </a:rPr>
              <a:t> fractional </a:t>
            </a:r>
            <a:r>
              <a:rPr lang="en-US" sz="2400" dirty="0" err="1">
                <a:solidFill>
                  <a:schemeClr val="tx1"/>
                </a:solidFill>
              </a:rPr>
              <a:t>brownian</a:t>
            </a:r>
            <a:r>
              <a:rPr lang="en-US" sz="2400" dirty="0">
                <a:solidFill>
                  <a:schemeClr val="tx1"/>
                </a:solidFill>
              </a:rPr>
              <a:t> motion. </a:t>
            </a:r>
            <a:r>
              <a:rPr lang="en-US" sz="2400" dirty="0" err="1">
                <a:solidFill>
                  <a:schemeClr val="tx1"/>
                </a:solidFill>
              </a:rPr>
              <a:t>Acest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algoritm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presupune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aplicarea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unor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scalări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asupra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parametrilor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valurilor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în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timpul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calculului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sumei</a:t>
            </a:r>
            <a:r>
              <a:rPr lang="en-US" sz="2400" dirty="0">
                <a:solidFill>
                  <a:schemeClr val="tx1"/>
                </a:solidFill>
              </a:rPr>
              <a:t>. </a:t>
            </a:r>
            <a:r>
              <a:rPr lang="en-US" sz="2400" dirty="0" err="1">
                <a:solidFill>
                  <a:schemeClr val="tx1"/>
                </a:solidFill>
              </a:rPr>
              <a:t>Amplitudinea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scade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iar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lungimea</a:t>
            </a:r>
            <a:r>
              <a:rPr lang="en-US" sz="2400" dirty="0">
                <a:solidFill>
                  <a:schemeClr val="tx1"/>
                </a:solidFill>
              </a:rPr>
              <a:t> de </a:t>
            </a:r>
            <a:r>
              <a:rPr lang="en-US" sz="2400" dirty="0" err="1">
                <a:solidFill>
                  <a:schemeClr val="tx1"/>
                </a:solidFill>
              </a:rPr>
              <a:t>unda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scade</a:t>
            </a:r>
            <a:r>
              <a:rPr lang="en-US" sz="2400" dirty="0">
                <a:solidFill>
                  <a:schemeClr val="tx1"/>
                </a:solidFill>
              </a:rPr>
              <a:t>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F30011A-5EA4-F345-1763-C20FB7D271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236" y="4613439"/>
            <a:ext cx="6652825" cy="194108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93A06F0-A721-4570-A274-15EC33F6009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3529"/>
          <a:stretch>
            <a:fillRect/>
          </a:stretch>
        </p:blipFill>
        <p:spPr>
          <a:xfrm>
            <a:off x="7265443" y="4521795"/>
            <a:ext cx="4555321" cy="2124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81142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ipple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007EA-F58E-C3E5-D6B3-8AF06CA7C2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036" y="114509"/>
            <a:ext cx="8534400" cy="1507067"/>
          </a:xfrm>
        </p:spPr>
        <p:txBody>
          <a:bodyPr/>
          <a:lstStyle/>
          <a:p>
            <a:r>
              <a:rPr lang="en-US" dirty="0"/>
              <a:t>Apa: </a:t>
            </a:r>
            <a:r>
              <a:rPr lang="en-US" i="1" dirty="0"/>
              <a:t>Fragment shader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ED7461-A265-FE09-DC3F-9EEDA63F14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6394" y="-977146"/>
            <a:ext cx="11155206" cy="8211494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Fragment shader-ul </a:t>
            </a:r>
            <a:r>
              <a:rPr lang="en-US" dirty="0" err="1">
                <a:solidFill>
                  <a:schemeClr val="tx1"/>
                </a:solidFill>
              </a:rPr>
              <a:t>implementează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iluminarea</a:t>
            </a:r>
            <a:r>
              <a:rPr lang="en-US" dirty="0">
                <a:solidFill>
                  <a:schemeClr val="tx1"/>
                </a:solidFill>
              </a:rPr>
              <a:t> Phong la care am </a:t>
            </a:r>
            <a:r>
              <a:rPr lang="en-US" dirty="0" err="1">
                <a:solidFill>
                  <a:schemeClr val="tx1"/>
                </a:solidFill>
              </a:rPr>
              <a:t>adăugat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reflexiile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obținute</a:t>
            </a:r>
            <a:r>
              <a:rPr lang="en-US" dirty="0">
                <a:solidFill>
                  <a:schemeClr val="tx1"/>
                </a:solidFill>
              </a:rPr>
              <a:t> din skybox </a:t>
            </a:r>
            <a:r>
              <a:rPr lang="en-US" dirty="0" err="1">
                <a:solidFill>
                  <a:schemeClr val="tx1"/>
                </a:solidFill>
              </a:rPr>
              <a:t>cât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și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componenta</a:t>
            </a:r>
            <a:r>
              <a:rPr lang="en-US" dirty="0">
                <a:solidFill>
                  <a:schemeClr val="tx1"/>
                </a:solidFill>
              </a:rPr>
              <a:t> Fresnel.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Componenta </a:t>
            </a:r>
            <a:r>
              <a:rPr lang="en-US" dirty="0" err="1">
                <a:solidFill>
                  <a:schemeClr val="tx1"/>
                </a:solidFill>
              </a:rPr>
              <a:t>speculară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este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înmulțită</a:t>
            </a:r>
            <a:r>
              <a:rPr lang="en-US" dirty="0">
                <a:solidFill>
                  <a:schemeClr val="tx1"/>
                </a:solidFill>
              </a:rPr>
              <a:t> cu (0.2 + 0.8 * </a:t>
            </a:r>
            <a:r>
              <a:rPr lang="en-US" dirty="0" err="1">
                <a:solidFill>
                  <a:schemeClr val="tx1"/>
                </a:solidFill>
              </a:rPr>
              <a:t>fresnel</a:t>
            </a:r>
            <a:r>
              <a:rPr lang="en-US" dirty="0">
                <a:solidFill>
                  <a:schemeClr val="tx1"/>
                </a:solidFill>
              </a:rPr>
              <a:t>) </a:t>
            </a:r>
            <a:r>
              <a:rPr lang="en-US" dirty="0" err="1">
                <a:solidFill>
                  <a:schemeClr val="tx1"/>
                </a:solidFill>
              </a:rPr>
              <a:t>pentru</a:t>
            </a:r>
            <a:r>
              <a:rPr lang="en-US" dirty="0">
                <a:solidFill>
                  <a:schemeClr val="tx1"/>
                </a:solidFill>
              </a:rPr>
              <a:t> a </a:t>
            </a:r>
            <a:r>
              <a:rPr lang="en-US" dirty="0" err="1">
                <a:solidFill>
                  <a:schemeClr val="tx1"/>
                </a:solidFill>
              </a:rPr>
              <a:t>avea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mereu</a:t>
            </a:r>
            <a:r>
              <a:rPr lang="en-US" dirty="0">
                <a:solidFill>
                  <a:schemeClr val="tx1"/>
                </a:solidFill>
              </a:rPr>
              <a:t> un minim de 20% </a:t>
            </a:r>
            <a:r>
              <a:rPr lang="en-US" dirty="0" err="1">
                <a:solidFill>
                  <a:schemeClr val="tx1"/>
                </a:solidFill>
              </a:rPr>
              <a:t>speculară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dirty="0" err="1">
                <a:solidFill>
                  <a:schemeClr val="tx1"/>
                </a:solidFill>
              </a:rPr>
              <a:t>aceasta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crescând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până</a:t>
            </a:r>
            <a:r>
              <a:rPr lang="en-US" dirty="0">
                <a:solidFill>
                  <a:schemeClr val="tx1"/>
                </a:solidFill>
              </a:rPr>
              <a:t> la 100% la </a:t>
            </a:r>
            <a:r>
              <a:rPr lang="en-US" dirty="0" err="1">
                <a:solidFill>
                  <a:schemeClr val="tx1"/>
                </a:solidFill>
              </a:rPr>
              <a:t>unghiuri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mari</a:t>
            </a:r>
            <a:r>
              <a:rPr lang="en-US" dirty="0">
                <a:solidFill>
                  <a:schemeClr val="tx1"/>
                </a:solidFill>
              </a:rPr>
              <a:t>. 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 err="1">
                <a:solidFill>
                  <a:schemeClr val="tx1"/>
                </a:solidFill>
              </a:rPr>
              <a:t>Culoarea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finală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este</a:t>
            </a:r>
            <a:r>
              <a:rPr lang="en-US" dirty="0">
                <a:solidFill>
                  <a:schemeClr val="tx1"/>
                </a:solidFill>
              </a:rPr>
              <a:t> un mix de 0.2 + </a:t>
            </a:r>
            <a:r>
              <a:rPr lang="en-US" dirty="0" err="1">
                <a:solidFill>
                  <a:schemeClr val="tx1"/>
                </a:solidFill>
              </a:rPr>
              <a:t>fresnel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între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culoarea</a:t>
            </a:r>
            <a:r>
              <a:rPr lang="en-US" dirty="0">
                <a:solidFill>
                  <a:schemeClr val="tx1"/>
                </a:solidFill>
              </a:rPr>
              <a:t> de </a:t>
            </a:r>
            <a:r>
              <a:rPr lang="en-US" dirty="0" err="1">
                <a:solidFill>
                  <a:schemeClr val="tx1"/>
                </a:solidFill>
              </a:rPr>
              <a:t>bază</a:t>
            </a:r>
            <a:r>
              <a:rPr lang="en-US" dirty="0">
                <a:solidFill>
                  <a:schemeClr val="tx1"/>
                </a:solidFill>
              </a:rPr>
              <a:t> din </a:t>
            </a:r>
            <a:r>
              <a:rPr lang="en-US" dirty="0" err="1">
                <a:solidFill>
                  <a:schemeClr val="tx1"/>
                </a:solidFill>
              </a:rPr>
              <a:t>modelul</a:t>
            </a:r>
            <a:r>
              <a:rPr lang="en-US" dirty="0">
                <a:solidFill>
                  <a:schemeClr val="tx1"/>
                </a:solidFill>
              </a:rPr>
              <a:t> de </a:t>
            </a:r>
            <a:r>
              <a:rPr lang="en-US" dirty="0" err="1">
                <a:solidFill>
                  <a:schemeClr val="tx1"/>
                </a:solidFill>
              </a:rPr>
              <a:t>iluminare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și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cea</a:t>
            </a:r>
            <a:r>
              <a:rPr lang="en-US" dirty="0">
                <a:solidFill>
                  <a:schemeClr val="tx1"/>
                </a:solidFill>
              </a:rPr>
              <a:t> a </a:t>
            </a:r>
            <a:r>
              <a:rPr lang="en-US" dirty="0" err="1">
                <a:solidFill>
                  <a:schemeClr val="tx1"/>
                </a:solidFill>
              </a:rPr>
              <a:t>reflexiilor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8ACC250-A6F7-A2F6-896E-CE92CC00F8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7125" y="4752766"/>
            <a:ext cx="4857750" cy="1990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09281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ipple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0E68AE-F746-7D46-AE4F-1BD2FBBFF1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012" y="524931"/>
            <a:ext cx="8534400" cy="1507067"/>
          </a:xfrm>
        </p:spPr>
        <p:txBody>
          <a:bodyPr/>
          <a:lstStyle/>
          <a:p>
            <a:r>
              <a:rPr lang="en-US" dirty="0"/>
              <a:t>Skybox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A5C7A2-A612-315B-4FA9-7F5A321F3D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7126" y="774700"/>
            <a:ext cx="7335574" cy="6333065"/>
          </a:xfrm>
        </p:spPr>
        <p:txBody>
          <a:bodyPr>
            <a:normAutofit/>
          </a:bodyPr>
          <a:lstStyle/>
          <a:p>
            <a:r>
              <a:rPr lang="en-US" sz="3200" dirty="0" err="1">
                <a:solidFill>
                  <a:schemeClr val="tx1"/>
                </a:solidFill>
              </a:rPr>
              <a:t>Skyboxul</a:t>
            </a:r>
            <a:r>
              <a:rPr lang="en-US" sz="3200" dirty="0">
                <a:solidFill>
                  <a:schemeClr val="tx1"/>
                </a:solidFill>
              </a:rPr>
              <a:t> </a:t>
            </a:r>
            <a:r>
              <a:rPr lang="en-US" sz="3200" dirty="0" err="1">
                <a:solidFill>
                  <a:schemeClr val="tx1"/>
                </a:solidFill>
              </a:rPr>
              <a:t>este</a:t>
            </a:r>
            <a:r>
              <a:rPr lang="en-US" sz="3200" dirty="0">
                <a:solidFill>
                  <a:schemeClr val="tx1"/>
                </a:solidFill>
              </a:rPr>
              <a:t> un </a:t>
            </a:r>
            <a:r>
              <a:rPr lang="en-US" sz="3200" dirty="0" err="1">
                <a:solidFill>
                  <a:schemeClr val="tx1"/>
                </a:solidFill>
              </a:rPr>
              <a:t>cubemap</a:t>
            </a:r>
            <a:r>
              <a:rPr lang="en-US" sz="3200" dirty="0">
                <a:solidFill>
                  <a:schemeClr val="tx1"/>
                </a:solidFill>
              </a:rPr>
              <a:t> la care se </a:t>
            </a:r>
            <a:r>
              <a:rPr lang="en-US" sz="3200" dirty="0" err="1">
                <a:solidFill>
                  <a:schemeClr val="tx1"/>
                </a:solidFill>
              </a:rPr>
              <a:t>aplică</a:t>
            </a:r>
            <a:r>
              <a:rPr lang="en-US" sz="3200" dirty="0">
                <a:solidFill>
                  <a:schemeClr val="tx1"/>
                </a:solidFill>
              </a:rPr>
              <a:t> 6 </a:t>
            </a:r>
            <a:r>
              <a:rPr lang="en-US" sz="3200" dirty="0" err="1">
                <a:solidFill>
                  <a:schemeClr val="tx1"/>
                </a:solidFill>
              </a:rPr>
              <a:t>texturi</a:t>
            </a:r>
            <a:r>
              <a:rPr lang="en-US" sz="3200" dirty="0">
                <a:solidFill>
                  <a:schemeClr val="tx1"/>
                </a:solidFill>
              </a:rPr>
              <a:t> </a:t>
            </a:r>
            <a:r>
              <a:rPr lang="en-US" sz="3200" dirty="0" err="1">
                <a:solidFill>
                  <a:schemeClr val="tx1"/>
                </a:solidFill>
              </a:rPr>
              <a:t>ce</a:t>
            </a:r>
            <a:r>
              <a:rPr lang="en-US" sz="3200" dirty="0">
                <a:solidFill>
                  <a:schemeClr val="tx1"/>
                </a:solidFill>
              </a:rPr>
              <a:t> </a:t>
            </a:r>
            <a:r>
              <a:rPr lang="en-US" sz="3200" dirty="0" err="1">
                <a:solidFill>
                  <a:schemeClr val="tx1"/>
                </a:solidFill>
              </a:rPr>
              <a:t>reprezintă</a:t>
            </a:r>
            <a:r>
              <a:rPr lang="en-US" sz="3200" dirty="0">
                <a:solidFill>
                  <a:schemeClr val="tx1"/>
                </a:solidFill>
              </a:rPr>
              <a:t> </a:t>
            </a:r>
            <a:r>
              <a:rPr lang="en-US" sz="3200" dirty="0" err="1">
                <a:solidFill>
                  <a:schemeClr val="tx1"/>
                </a:solidFill>
              </a:rPr>
              <a:t>cerul</a:t>
            </a:r>
            <a:r>
              <a:rPr lang="en-US" sz="3200" dirty="0">
                <a:solidFill>
                  <a:schemeClr val="tx1"/>
                </a:solidFill>
              </a:rPr>
              <a:t>.</a:t>
            </a:r>
          </a:p>
          <a:p>
            <a:r>
              <a:rPr lang="en-US" sz="2800" dirty="0">
                <a:solidFill>
                  <a:schemeClr val="tx1"/>
                </a:solidFill>
              </a:rPr>
              <a:t>Textura </a:t>
            </a:r>
            <a:r>
              <a:rPr lang="en-US" sz="2800" dirty="0" err="1">
                <a:solidFill>
                  <a:schemeClr val="tx1"/>
                </a:solidFill>
              </a:rPr>
              <a:t>cubemap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generată</a:t>
            </a:r>
            <a:r>
              <a:rPr lang="en-US" sz="2800" dirty="0">
                <a:solidFill>
                  <a:schemeClr val="tx1"/>
                </a:solidFill>
              </a:rPr>
              <a:t> de skybox </a:t>
            </a:r>
            <a:r>
              <a:rPr lang="en-US" sz="2800" dirty="0" err="1">
                <a:solidFill>
                  <a:schemeClr val="tx1"/>
                </a:solidFill>
              </a:rPr>
              <a:t>este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trimisă</a:t>
            </a:r>
            <a:r>
              <a:rPr lang="en-US" sz="2800" dirty="0">
                <a:solidFill>
                  <a:schemeClr val="tx1"/>
                </a:solidFill>
              </a:rPr>
              <a:t> ca </a:t>
            </a:r>
            <a:r>
              <a:rPr lang="en-US" sz="2800" dirty="0" err="1">
                <a:solidFill>
                  <a:schemeClr val="tx1"/>
                </a:solidFill>
              </a:rPr>
              <a:t>uniformă</a:t>
            </a:r>
            <a:r>
              <a:rPr lang="en-US" sz="2800" dirty="0">
                <a:solidFill>
                  <a:schemeClr val="tx1"/>
                </a:solidFill>
              </a:rPr>
              <a:t> (</a:t>
            </a:r>
            <a:r>
              <a:rPr lang="en-US" sz="2800" dirty="0" err="1">
                <a:solidFill>
                  <a:schemeClr val="tx1"/>
                </a:solidFill>
              </a:rPr>
              <a:t>samplerCube</a:t>
            </a:r>
            <a:r>
              <a:rPr lang="en-US" sz="2800" dirty="0">
                <a:solidFill>
                  <a:schemeClr val="tx1"/>
                </a:solidFill>
              </a:rPr>
              <a:t>) </a:t>
            </a:r>
            <a:r>
              <a:rPr lang="en-US" sz="2800" dirty="0" err="1">
                <a:solidFill>
                  <a:schemeClr val="tx1"/>
                </a:solidFill>
              </a:rPr>
              <a:t>în</a:t>
            </a:r>
            <a:r>
              <a:rPr lang="en-US" sz="2800" dirty="0">
                <a:solidFill>
                  <a:schemeClr val="tx1"/>
                </a:solidFill>
              </a:rPr>
              <a:t> fragment </a:t>
            </a:r>
            <a:r>
              <a:rPr lang="en-US" sz="2800" dirty="0" err="1">
                <a:solidFill>
                  <a:schemeClr val="tx1"/>
                </a:solidFill>
              </a:rPr>
              <a:t>shaderul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apei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pentru</a:t>
            </a:r>
            <a:r>
              <a:rPr lang="en-US" sz="2800" dirty="0">
                <a:solidFill>
                  <a:schemeClr val="tx1"/>
                </a:solidFill>
              </a:rPr>
              <a:t> a </a:t>
            </a:r>
            <a:r>
              <a:rPr lang="en-US" sz="2800" dirty="0" err="1">
                <a:solidFill>
                  <a:schemeClr val="tx1"/>
                </a:solidFill>
              </a:rPr>
              <a:t>calcula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reflexiile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mediului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înconjurător</a:t>
            </a:r>
            <a:endParaRPr lang="en-US" sz="2800" dirty="0">
              <a:solidFill>
                <a:schemeClr val="tx1"/>
              </a:solidFill>
            </a:endParaRPr>
          </a:p>
        </p:txBody>
      </p:sp>
      <p:pic>
        <p:nvPicPr>
          <p:cNvPr id="6" name="Picture 5" descr="Image of a cube reflecting a skybox via cubemaps via environment mapping.">
            <a:extLst>
              <a:ext uri="{FF2B5EF4-FFF2-40B4-BE49-F238E27FC236}">
                <a16:creationId xmlns:a16="http://schemas.microsoft.com/office/drawing/2014/main" id="{B82BFCCC-917A-4DBC-205F-AB7029E3D9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9724" y="3326344"/>
            <a:ext cx="3846557" cy="3006725"/>
          </a:xfrm>
          <a:prstGeom prst="rect">
            <a:avLst/>
          </a:prstGeom>
        </p:spPr>
      </p:pic>
      <p:pic>
        <p:nvPicPr>
          <p:cNvPr id="7" name="Picture 6" descr="Image of a skybox for a cubemap in OpenGL">
            <a:extLst>
              <a:ext uri="{FF2B5EF4-FFF2-40B4-BE49-F238E27FC236}">
                <a16:creationId xmlns:a16="http://schemas.microsoft.com/office/drawing/2014/main" id="{B595E777-80B9-C332-5220-BB25F95D06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5100" y="228600"/>
            <a:ext cx="3975806" cy="2981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89824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ipple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303D8-3CBA-1A3F-FC17-0AA4D17BAF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0"/>
            <a:ext cx="8534400" cy="1507067"/>
          </a:xfrm>
        </p:spPr>
        <p:txBody>
          <a:bodyPr/>
          <a:lstStyle/>
          <a:p>
            <a:r>
              <a:rPr lang="en-US" dirty="0"/>
              <a:t>Rata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350889-0C69-A60E-192A-39FF9AF7F5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7212" y="673100"/>
            <a:ext cx="8296162" cy="6087535"/>
          </a:xfrm>
        </p:spPr>
        <p:txBody>
          <a:bodyPr>
            <a:normAutofit/>
          </a:bodyPr>
          <a:lstStyle/>
          <a:p>
            <a:r>
              <a:rPr lang="en-US" sz="2800" dirty="0" err="1">
                <a:solidFill>
                  <a:schemeClr val="tx1"/>
                </a:solidFill>
              </a:rPr>
              <a:t>Rața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reprezintă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modelul</a:t>
            </a:r>
            <a:r>
              <a:rPr lang="en-US" sz="2800" dirty="0">
                <a:solidFill>
                  <a:schemeClr val="tx1"/>
                </a:solidFill>
              </a:rPr>
              <a:t> complex al </a:t>
            </a:r>
            <a:r>
              <a:rPr lang="en-US" sz="2800" dirty="0" err="1">
                <a:solidFill>
                  <a:schemeClr val="tx1"/>
                </a:solidFill>
              </a:rPr>
              <a:t>scenei</a:t>
            </a:r>
            <a:r>
              <a:rPr lang="en-US" sz="2800" dirty="0">
                <a:solidFill>
                  <a:schemeClr val="tx1"/>
                </a:solidFill>
              </a:rPr>
              <a:t>. </a:t>
            </a:r>
            <a:r>
              <a:rPr lang="en-US" sz="2800" dirty="0" err="1">
                <a:solidFill>
                  <a:schemeClr val="tx1"/>
                </a:solidFill>
              </a:rPr>
              <a:t>Modelul</a:t>
            </a:r>
            <a:r>
              <a:rPr lang="en-US" sz="2800" dirty="0">
                <a:solidFill>
                  <a:schemeClr val="tx1"/>
                </a:solidFill>
              </a:rPr>
              <a:t> a </a:t>
            </a:r>
            <a:r>
              <a:rPr lang="en-US" sz="2800" dirty="0" err="1">
                <a:solidFill>
                  <a:schemeClr val="tx1"/>
                </a:solidFill>
              </a:rPr>
              <a:t>fost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preluat</a:t>
            </a:r>
            <a:r>
              <a:rPr lang="en-US" sz="2800" dirty="0">
                <a:solidFill>
                  <a:schemeClr val="tx1"/>
                </a:solidFill>
              </a:rPr>
              <a:t> de pe free3d.com </a:t>
            </a:r>
            <a:r>
              <a:rPr lang="en-US" sz="2800" dirty="0" err="1">
                <a:solidFill>
                  <a:schemeClr val="tx1"/>
                </a:solidFill>
              </a:rPr>
              <a:t>și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conține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valori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pentru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poziție</a:t>
            </a:r>
            <a:r>
              <a:rPr lang="en-US" sz="2800" dirty="0">
                <a:solidFill>
                  <a:schemeClr val="tx1"/>
                </a:solidFill>
              </a:rPr>
              <a:t>, </a:t>
            </a:r>
            <a:r>
              <a:rPr lang="en-US" sz="2800" dirty="0" err="1">
                <a:solidFill>
                  <a:schemeClr val="tx1"/>
                </a:solidFill>
              </a:rPr>
              <a:t>normale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și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coordonatele</a:t>
            </a:r>
            <a:r>
              <a:rPr lang="en-US" sz="2800" dirty="0">
                <a:solidFill>
                  <a:schemeClr val="tx1"/>
                </a:solidFill>
              </a:rPr>
              <a:t> UV ale </a:t>
            </a:r>
            <a:r>
              <a:rPr lang="en-US" sz="2800" dirty="0" err="1">
                <a:solidFill>
                  <a:schemeClr val="tx1"/>
                </a:solidFill>
              </a:rPr>
              <a:t>texturii</a:t>
            </a:r>
            <a:r>
              <a:rPr lang="en-US" sz="2800" dirty="0">
                <a:solidFill>
                  <a:schemeClr val="tx1"/>
                </a:solidFill>
              </a:rPr>
              <a:t>.</a:t>
            </a:r>
          </a:p>
          <a:p>
            <a:r>
              <a:rPr lang="en-US" sz="2800" dirty="0" err="1">
                <a:solidFill>
                  <a:schemeClr val="tx1"/>
                </a:solidFill>
              </a:rPr>
              <a:t>Aceasta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este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animată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prin</a:t>
            </a:r>
            <a:r>
              <a:rPr lang="en-US" sz="2800" dirty="0">
                <a:solidFill>
                  <a:schemeClr val="tx1"/>
                </a:solidFill>
              </a:rPr>
              <a:t> 4 </a:t>
            </a:r>
            <a:r>
              <a:rPr lang="en-US" sz="2800" dirty="0" err="1">
                <a:solidFill>
                  <a:schemeClr val="tx1"/>
                </a:solidFill>
              </a:rPr>
              <a:t>transformări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aplicate</a:t>
            </a:r>
            <a:r>
              <a:rPr lang="en-US" sz="2800" dirty="0">
                <a:solidFill>
                  <a:schemeClr val="tx1"/>
                </a:solidFill>
              </a:rPr>
              <a:t> model matrix-</a:t>
            </a:r>
            <a:r>
              <a:rPr lang="en-US" sz="2800" dirty="0" err="1">
                <a:solidFill>
                  <a:schemeClr val="tx1"/>
                </a:solidFill>
              </a:rPr>
              <a:t>ului</a:t>
            </a:r>
            <a:r>
              <a:rPr lang="en-US" sz="2800" dirty="0">
                <a:solidFill>
                  <a:schemeClr val="tx1"/>
                </a:solidFill>
              </a:rPr>
              <a:t>. Prima </a:t>
            </a:r>
            <a:r>
              <a:rPr lang="en-US" sz="2800" dirty="0" err="1">
                <a:solidFill>
                  <a:schemeClr val="tx1"/>
                </a:solidFill>
              </a:rPr>
              <a:t>este</a:t>
            </a:r>
            <a:r>
              <a:rPr lang="en-US" sz="2800" dirty="0">
                <a:solidFill>
                  <a:schemeClr val="tx1"/>
                </a:solidFill>
              </a:rPr>
              <a:t> o </a:t>
            </a:r>
            <a:r>
              <a:rPr lang="en-US" sz="2800" dirty="0" err="1">
                <a:solidFill>
                  <a:schemeClr val="tx1"/>
                </a:solidFill>
              </a:rPr>
              <a:t>translație</a:t>
            </a:r>
            <a:r>
              <a:rPr lang="en-US" sz="2800" dirty="0">
                <a:solidFill>
                  <a:schemeClr val="tx1"/>
                </a:solidFill>
              </a:rPr>
              <a:t> pe </a:t>
            </a:r>
            <a:r>
              <a:rPr lang="en-US" sz="2800" dirty="0" err="1">
                <a:solidFill>
                  <a:schemeClr val="tx1"/>
                </a:solidFill>
              </a:rPr>
              <a:t>axa</a:t>
            </a:r>
            <a:r>
              <a:rPr lang="en-US" sz="2800" dirty="0">
                <a:solidFill>
                  <a:schemeClr val="tx1"/>
                </a:solidFill>
              </a:rPr>
              <a:t> Y </a:t>
            </a:r>
            <a:r>
              <a:rPr lang="en-US" sz="2800" dirty="0" err="1">
                <a:solidFill>
                  <a:schemeClr val="tx1"/>
                </a:solidFill>
              </a:rPr>
              <a:t>pentru</a:t>
            </a:r>
            <a:r>
              <a:rPr lang="en-US" sz="2800" dirty="0">
                <a:solidFill>
                  <a:schemeClr val="tx1"/>
                </a:solidFill>
              </a:rPr>
              <a:t> a </a:t>
            </a:r>
            <a:r>
              <a:rPr lang="en-US" sz="2800" dirty="0" err="1">
                <a:solidFill>
                  <a:schemeClr val="tx1"/>
                </a:solidFill>
              </a:rPr>
              <a:t>simula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plutirea</a:t>
            </a:r>
            <a:r>
              <a:rPr lang="en-US" sz="2800" dirty="0">
                <a:solidFill>
                  <a:schemeClr val="tx1"/>
                </a:solidFill>
              </a:rPr>
              <a:t> pe </a:t>
            </a:r>
            <a:r>
              <a:rPr lang="en-US" sz="2800" dirty="0" err="1">
                <a:solidFill>
                  <a:schemeClr val="tx1"/>
                </a:solidFill>
              </a:rPr>
              <a:t>apă</a:t>
            </a:r>
            <a:r>
              <a:rPr lang="en-US" sz="2800" dirty="0">
                <a:solidFill>
                  <a:schemeClr val="tx1"/>
                </a:solidFill>
              </a:rPr>
              <a:t>. </a:t>
            </a:r>
            <a:r>
              <a:rPr lang="en-US" sz="2800" dirty="0" err="1">
                <a:solidFill>
                  <a:schemeClr val="tx1"/>
                </a:solidFill>
              </a:rPr>
              <a:t>Următoarele</a:t>
            </a:r>
            <a:r>
              <a:rPr lang="en-US" sz="2800" dirty="0">
                <a:solidFill>
                  <a:schemeClr val="tx1"/>
                </a:solidFill>
              </a:rPr>
              <a:t> 3 sunt </a:t>
            </a:r>
            <a:r>
              <a:rPr lang="en-US" sz="2800" dirty="0" err="1">
                <a:solidFill>
                  <a:schemeClr val="tx1"/>
                </a:solidFill>
              </a:rPr>
              <a:t>rotații</a:t>
            </a:r>
            <a:r>
              <a:rPr lang="en-US" sz="2800" dirty="0">
                <a:solidFill>
                  <a:schemeClr val="tx1"/>
                </a:solidFill>
              </a:rPr>
              <a:t>: o </a:t>
            </a:r>
            <a:r>
              <a:rPr lang="en-US" sz="2800" dirty="0" err="1">
                <a:solidFill>
                  <a:schemeClr val="tx1"/>
                </a:solidFill>
              </a:rPr>
              <a:t>balansare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stânga-dreapta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și</a:t>
            </a:r>
            <a:r>
              <a:rPr lang="en-US" sz="2800" dirty="0">
                <a:solidFill>
                  <a:schemeClr val="tx1"/>
                </a:solidFill>
              </a:rPr>
              <a:t> o </a:t>
            </a:r>
            <a:r>
              <a:rPr lang="en-US" sz="2800" dirty="0" err="1">
                <a:solidFill>
                  <a:schemeClr val="tx1"/>
                </a:solidFill>
              </a:rPr>
              <a:t>înclinare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față</a:t>
            </a:r>
            <a:r>
              <a:rPr lang="en-US" sz="2800" dirty="0">
                <a:solidFill>
                  <a:schemeClr val="tx1"/>
                </a:solidFill>
              </a:rPr>
              <a:t>-spate </a:t>
            </a:r>
            <a:r>
              <a:rPr lang="pt-BR" sz="2800" dirty="0">
                <a:solidFill>
                  <a:schemeClr val="tx1"/>
                </a:solidFill>
              </a:rPr>
              <a:t>și o rotație continuă în jurul axei Z. 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5165B9B-C593-9EC1-15E7-6D7EF24AAD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3374" y="2583008"/>
            <a:ext cx="3098914" cy="2661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39272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ipple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A2BAB-3DCD-9241-4F49-F107DA8A6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5939" y="431380"/>
            <a:ext cx="8534400" cy="1507067"/>
          </a:xfrm>
        </p:spPr>
        <p:txBody>
          <a:bodyPr/>
          <a:lstStyle/>
          <a:p>
            <a:r>
              <a:rPr lang="en-US" dirty="0" err="1"/>
              <a:t>Rezultat</a:t>
            </a:r>
            <a:endParaRPr lang="en-US" dirty="0"/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F7440BAB-28B7-C1D1-B360-D54DDD28E7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45939" y="1628259"/>
            <a:ext cx="9749573" cy="5024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95263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ipple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F2B4AC-A7DB-D7FD-A202-95B3EB500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413272"/>
            <a:ext cx="8534400" cy="1507067"/>
          </a:xfrm>
        </p:spPr>
        <p:txBody>
          <a:bodyPr/>
          <a:lstStyle/>
          <a:p>
            <a:r>
              <a:rPr lang="en-US" dirty="0" err="1"/>
              <a:t>Concluzii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D01368-D25D-6CE7-D6B1-397F40B021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355" y="796705"/>
            <a:ext cx="9727273" cy="6559236"/>
          </a:xfrm>
        </p:spPr>
        <p:txBody>
          <a:bodyPr>
            <a:normAutofit/>
          </a:bodyPr>
          <a:lstStyle/>
          <a:p>
            <a:r>
              <a:rPr lang="en-US" sz="2400" dirty="0" err="1">
                <a:solidFill>
                  <a:schemeClr val="tx1"/>
                </a:solidFill>
              </a:rPr>
              <a:t>Metoda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sumei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sinusurilor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reprezintă</a:t>
            </a:r>
            <a:r>
              <a:rPr lang="en-US" sz="2400" dirty="0">
                <a:solidFill>
                  <a:schemeClr val="tx1"/>
                </a:solidFill>
              </a:rPr>
              <a:t> o </a:t>
            </a:r>
            <a:r>
              <a:rPr lang="en-US" sz="2400" dirty="0" err="1">
                <a:solidFill>
                  <a:schemeClr val="tx1"/>
                </a:solidFill>
              </a:rPr>
              <a:t>soluție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accesibilă</a:t>
            </a:r>
            <a:r>
              <a:rPr lang="en-US" sz="2400" dirty="0">
                <a:solidFill>
                  <a:schemeClr val="tx1"/>
                </a:solidFill>
              </a:rPr>
              <a:t> cu </a:t>
            </a:r>
            <a:r>
              <a:rPr lang="en-US" sz="2400" dirty="0" err="1">
                <a:solidFill>
                  <a:schemeClr val="tx1"/>
                </a:solidFill>
              </a:rPr>
              <a:t>rezultate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acceptabile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pentru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randarea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apei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în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timp</a:t>
            </a:r>
            <a:r>
              <a:rPr lang="en-US" sz="2400" dirty="0">
                <a:solidFill>
                  <a:schemeClr val="tx1"/>
                </a:solidFill>
              </a:rPr>
              <a:t> real. Din </a:t>
            </a:r>
            <a:r>
              <a:rPr lang="en-US" sz="2400" dirty="0" err="1">
                <a:solidFill>
                  <a:schemeClr val="tx1"/>
                </a:solidFill>
              </a:rPr>
              <a:t>cauza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limitărilor</a:t>
            </a:r>
            <a:r>
              <a:rPr lang="en-US" sz="2400" dirty="0">
                <a:solidFill>
                  <a:schemeClr val="tx1"/>
                </a:solidFill>
              </a:rPr>
              <a:t> sale </a:t>
            </a:r>
            <a:r>
              <a:rPr lang="en-US" sz="2400" dirty="0" err="1">
                <a:solidFill>
                  <a:schemeClr val="tx1"/>
                </a:solidFill>
              </a:rPr>
              <a:t>aceasta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este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potrivită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pentru</a:t>
            </a:r>
            <a:r>
              <a:rPr lang="en-US" sz="2400" dirty="0">
                <a:solidFill>
                  <a:schemeClr val="tx1"/>
                </a:solidFill>
              </a:rPr>
              <a:t> ape </a:t>
            </a:r>
            <a:r>
              <a:rPr lang="en-US" sz="2400" dirty="0" err="1">
                <a:solidFill>
                  <a:schemeClr val="tx1"/>
                </a:solidFill>
              </a:rPr>
              <a:t>stătătoare</a:t>
            </a:r>
            <a:r>
              <a:rPr lang="en-US" sz="2400" dirty="0">
                <a:solidFill>
                  <a:schemeClr val="tx1"/>
                </a:solidFill>
              </a:rPr>
              <a:t> de </a:t>
            </a:r>
            <a:r>
              <a:rPr lang="en-US" sz="2400" dirty="0" err="1">
                <a:solidFill>
                  <a:schemeClr val="tx1"/>
                </a:solidFill>
              </a:rPr>
              <a:t>mărimi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medii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sau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în</a:t>
            </a:r>
            <a:r>
              <a:rPr lang="en-US" sz="2400" dirty="0">
                <a:solidFill>
                  <a:schemeClr val="tx1"/>
                </a:solidFill>
              </a:rPr>
              <a:t> scene </a:t>
            </a:r>
            <a:r>
              <a:rPr lang="en-US" sz="2400" dirty="0" err="1">
                <a:solidFill>
                  <a:schemeClr val="tx1"/>
                </a:solidFill>
              </a:rPr>
              <a:t>unde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oceanul</a:t>
            </a:r>
            <a:r>
              <a:rPr lang="en-US" sz="2400" dirty="0">
                <a:solidFill>
                  <a:schemeClr val="tx1"/>
                </a:solidFill>
              </a:rPr>
              <a:t> nu are un </a:t>
            </a:r>
            <a:r>
              <a:rPr lang="en-US" sz="2400" dirty="0" err="1">
                <a:solidFill>
                  <a:schemeClr val="tx1"/>
                </a:solidFill>
              </a:rPr>
              <a:t>rol</a:t>
            </a:r>
            <a:r>
              <a:rPr lang="en-US" sz="2400" dirty="0">
                <a:solidFill>
                  <a:schemeClr val="tx1"/>
                </a:solidFill>
              </a:rPr>
              <a:t> important.</a:t>
            </a:r>
          </a:p>
          <a:p>
            <a:endParaRPr lang="en-US" sz="2400" dirty="0">
              <a:solidFill>
                <a:schemeClr val="tx1"/>
              </a:solidFill>
            </a:endParaRPr>
          </a:p>
          <a:p>
            <a:r>
              <a:rPr lang="en-US" sz="2400" dirty="0" err="1">
                <a:solidFill>
                  <a:schemeClr val="tx1"/>
                </a:solidFill>
              </a:rPr>
              <a:t>În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cazurile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în</a:t>
            </a:r>
            <a:r>
              <a:rPr lang="en-US" sz="2400" dirty="0">
                <a:solidFill>
                  <a:schemeClr val="tx1"/>
                </a:solidFill>
              </a:rPr>
              <a:t> care </a:t>
            </a:r>
            <a:r>
              <a:rPr lang="en-US" sz="2400" dirty="0" err="1">
                <a:solidFill>
                  <a:schemeClr val="tx1"/>
                </a:solidFill>
              </a:rPr>
              <a:t>este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cerută</a:t>
            </a:r>
            <a:r>
              <a:rPr lang="en-US" sz="2400" dirty="0">
                <a:solidFill>
                  <a:schemeClr val="tx1"/>
                </a:solidFill>
              </a:rPr>
              <a:t> o </a:t>
            </a:r>
            <a:r>
              <a:rPr lang="en-US" sz="2400" dirty="0" err="1">
                <a:solidFill>
                  <a:schemeClr val="tx1"/>
                </a:solidFill>
              </a:rPr>
              <a:t>fidelitate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crescută</a:t>
            </a:r>
            <a:r>
              <a:rPr lang="en-US" sz="2400" dirty="0">
                <a:solidFill>
                  <a:schemeClr val="tx1"/>
                </a:solidFill>
              </a:rPr>
              <a:t>, </a:t>
            </a:r>
            <a:r>
              <a:rPr lang="en-US" sz="2400" dirty="0" err="1">
                <a:solidFill>
                  <a:schemeClr val="tx1"/>
                </a:solidFill>
              </a:rPr>
              <a:t>metoda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bazată</a:t>
            </a:r>
            <a:r>
              <a:rPr lang="en-US" sz="2400" dirty="0">
                <a:solidFill>
                  <a:schemeClr val="tx1"/>
                </a:solidFill>
              </a:rPr>
              <a:t> pe </a:t>
            </a:r>
            <a:r>
              <a:rPr lang="en-US" sz="2400" dirty="0" err="1">
                <a:solidFill>
                  <a:schemeClr val="tx1"/>
                </a:solidFill>
              </a:rPr>
              <a:t>spectre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oceanice</a:t>
            </a:r>
            <a:r>
              <a:rPr lang="en-US" sz="2400" dirty="0">
                <a:solidFill>
                  <a:schemeClr val="tx1"/>
                </a:solidFill>
              </a:rPr>
              <a:t>, de </a:t>
            </a:r>
            <a:r>
              <a:rPr lang="en-US" sz="2400" dirty="0" err="1">
                <a:solidFill>
                  <a:schemeClr val="tx1"/>
                </a:solidFill>
              </a:rPr>
              <a:t>exemplu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spectrul</a:t>
            </a:r>
            <a:r>
              <a:rPr lang="en-US" sz="2400" dirty="0">
                <a:solidFill>
                  <a:schemeClr val="tx1"/>
                </a:solidFill>
              </a:rPr>
              <a:t> JONSWAP </a:t>
            </a:r>
            <a:r>
              <a:rPr lang="en-US" sz="2400" dirty="0" err="1">
                <a:solidFill>
                  <a:schemeClr val="tx1"/>
                </a:solidFill>
              </a:rPr>
              <a:t>și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transformata</a:t>
            </a:r>
            <a:r>
              <a:rPr lang="en-US" sz="2400" dirty="0">
                <a:solidFill>
                  <a:schemeClr val="tx1"/>
                </a:solidFill>
              </a:rPr>
              <a:t> Fourier </a:t>
            </a:r>
            <a:r>
              <a:rPr lang="en-US" sz="2400" dirty="0" err="1">
                <a:solidFill>
                  <a:schemeClr val="tx1"/>
                </a:solidFill>
              </a:rPr>
              <a:t>rapidă</a:t>
            </a:r>
            <a:r>
              <a:rPr lang="en-US" sz="2400" dirty="0">
                <a:solidFill>
                  <a:schemeClr val="tx1"/>
                </a:solidFill>
              </a:rPr>
              <a:t>, produce </a:t>
            </a:r>
            <a:r>
              <a:rPr lang="en-US" sz="2400" dirty="0" err="1">
                <a:solidFill>
                  <a:schemeClr val="tx1"/>
                </a:solidFill>
              </a:rPr>
              <a:t>rezultate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mai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realiste</a:t>
            </a:r>
            <a:r>
              <a:rPr lang="en-US" sz="2400" dirty="0">
                <a:solidFill>
                  <a:schemeClr val="tx1"/>
                </a:solidFill>
              </a:rPr>
              <a:t>, </a:t>
            </a:r>
            <a:r>
              <a:rPr lang="en-US" sz="2400" dirty="0" err="1">
                <a:solidFill>
                  <a:schemeClr val="tx1"/>
                </a:solidFill>
              </a:rPr>
              <a:t>plăcute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vizual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și</a:t>
            </a:r>
            <a:r>
              <a:rPr lang="en-US" sz="2400" dirty="0">
                <a:solidFill>
                  <a:schemeClr val="tx1"/>
                </a:solidFill>
              </a:rPr>
              <a:t> cu un grad mare de </a:t>
            </a:r>
            <a:r>
              <a:rPr lang="en-US" sz="2400" dirty="0" err="1">
                <a:solidFill>
                  <a:schemeClr val="tx1"/>
                </a:solidFill>
              </a:rPr>
              <a:t>parametrizare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în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schimbul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unei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complexități</a:t>
            </a:r>
            <a:r>
              <a:rPr lang="en-US" sz="2400" dirty="0">
                <a:solidFill>
                  <a:schemeClr val="tx1"/>
                </a:solidFill>
              </a:rPr>
              <a:t> de </a:t>
            </a:r>
            <a:r>
              <a:rPr lang="en-US" sz="2400" dirty="0" err="1">
                <a:solidFill>
                  <a:schemeClr val="tx1"/>
                </a:solidFill>
              </a:rPr>
              <a:t>implementare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mai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înalte</a:t>
            </a:r>
            <a:r>
              <a:rPr lang="en-US" sz="2400" dirty="0">
                <a:solidFill>
                  <a:schemeClr val="tx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857857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ipple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59DB5-38FC-11D3-E850-19E08A247F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685800"/>
            <a:ext cx="8534400" cy="1507067"/>
          </a:xfrm>
        </p:spPr>
        <p:txBody>
          <a:bodyPr/>
          <a:lstStyle/>
          <a:p>
            <a:r>
              <a:rPr lang="en-US" i="1" u="sng" dirty="0" err="1"/>
              <a:t>Potențiale</a:t>
            </a:r>
            <a:r>
              <a:rPr lang="en-US" i="1" u="sng" dirty="0"/>
              <a:t> </a:t>
            </a:r>
            <a:r>
              <a:rPr lang="en-US" i="1" u="sng" dirty="0" err="1"/>
              <a:t>Îmbunătățiri</a:t>
            </a:r>
            <a:r>
              <a:rPr lang="en-US" i="1" u="sng" dirty="0"/>
              <a:t> pe </a:t>
            </a:r>
            <a:r>
              <a:rPr lang="en-US" i="1" u="sng" dirty="0" err="1"/>
              <a:t>viitor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D2A6D5-7C4B-DDFD-3007-A961F3707A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2192867"/>
            <a:ext cx="9111638" cy="3615267"/>
          </a:xfrm>
        </p:spPr>
        <p:txBody>
          <a:bodyPr>
            <a:normAutofit lnSpcReduction="10000"/>
          </a:bodyPr>
          <a:lstStyle/>
          <a:p>
            <a:pPr fontAlgn="base"/>
            <a:r>
              <a:rPr lang="en-US" sz="2400" dirty="0" err="1">
                <a:solidFill>
                  <a:schemeClr val="tx1"/>
                </a:solidFill>
              </a:rPr>
              <a:t>Înlocuirea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metodei</a:t>
            </a:r>
            <a:r>
              <a:rPr lang="en-US" sz="2400" dirty="0">
                <a:solidFill>
                  <a:schemeClr val="tx1"/>
                </a:solidFill>
              </a:rPr>
              <a:t> sum of sines cu FFT</a:t>
            </a:r>
          </a:p>
          <a:p>
            <a:pPr fontAlgn="base"/>
            <a:r>
              <a:rPr lang="en-US" sz="2400" dirty="0" err="1">
                <a:solidFill>
                  <a:schemeClr val="tx1"/>
                </a:solidFill>
              </a:rPr>
              <a:t>Animația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raței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să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urmeze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înălțimea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apei</a:t>
            </a:r>
            <a:endParaRPr lang="en-US" sz="2400" dirty="0">
              <a:solidFill>
                <a:schemeClr val="tx1"/>
              </a:solidFill>
            </a:endParaRPr>
          </a:p>
          <a:p>
            <a:pPr fontAlgn="base"/>
            <a:r>
              <a:rPr lang="en-US" sz="2400" dirty="0" err="1">
                <a:solidFill>
                  <a:schemeClr val="tx1"/>
                </a:solidFill>
              </a:rPr>
              <a:t>Detectarea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spumei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folosind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operatorul</a:t>
            </a:r>
            <a:r>
              <a:rPr lang="en-US" sz="2400" dirty="0">
                <a:solidFill>
                  <a:schemeClr val="tx1"/>
                </a:solidFill>
              </a:rPr>
              <a:t> Jacobian </a:t>
            </a:r>
            <a:r>
              <a:rPr lang="en-US" sz="2400" dirty="0" err="1">
                <a:solidFill>
                  <a:schemeClr val="tx1"/>
                </a:solidFill>
              </a:rPr>
              <a:t>și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acumularea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acesteia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într</a:t>
            </a:r>
            <a:r>
              <a:rPr lang="en-US" sz="2400" dirty="0">
                <a:solidFill>
                  <a:schemeClr val="tx1"/>
                </a:solidFill>
              </a:rPr>
              <a:t>-o </a:t>
            </a:r>
            <a:r>
              <a:rPr lang="en-US" sz="2400" dirty="0" err="1">
                <a:solidFill>
                  <a:schemeClr val="tx1"/>
                </a:solidFill>
              </a:rPr>
              <a:t>textură</a:t>
            </a:r>
            <a:endParaRPr lang="en-US" sz="2400" dirty="0">
              <a:solidFill>
                <a:schemeClr val="tx1"/>
              </a:solidFill>
            </a:endParaRPr>
          </a:p>
          <a:p>
            <a:pPr fontAlgn="base"/>
            <a:r>
              <a:rPr lang="en-US" sz="2400" dirty="0" err="1">
                <a:solidFill>
                  <a:schemeClr val="tx1"/>
                </a:solidFill>
              </a:rPr>
              <a:t>Trecerea</a:t>
            </a:r>
            <a:r>
              <a:rPr lang="en-US" sz="2400" dirty="0">
                <a:solidFill>
                  <a:schemeClr val="tx1"/>
                </a:solidFill>
              </a:rPr>
              <a:t> de la </a:t>
            </a:r>
            <a:r>
              <a:rPr lang="en-US" sz="2400" dirty="0" err="1">
                <a:solidFill>
                  <a:schemeClr val="tx1"/>
                </a:solidFill>
              </a:rPr>
              <a:t>iluminare</a:t>
            </a:r>
            <a:r>
              <a:rPr lang="en-US" sz="2400" dirty="0">
                <a:solidFill>
                  <a:schemeClr val="tx1"/>
                </a:solidFill>
              </a:rPr>
              <a:t> Phong la o </a:t>
            </a:r>
            <a:r>
              <a:rPr lang="en-US" sz="2400" dirty="0" err="1">
                <a:solidFill>
                  <a:schemeClr val="tx1"/>
                </a:solidFill>
              </a:rPr>
              <a:t>iluminare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bazată</a:t>
            </a:r>
            <a:r>
              <a:rPr lang="en-US" sz="2400" dirty="0">
                <a:solidFill>
                  <a:schemeClr val="tx1"/>
                </a:solidFill>
              </a:rPr>
              <a:t> pe </a:t>
            </a:r>
            <a:r>
              <a:rPr lang="en-US" sz="2400" dirty="0" err="1">
                <a:solidFill>
                  <a:schemeClr val="tx1"/>
                </a:solidFill>
              </a:rPr>
              <a:t>fizică</a:t>
            </a:r>
            <a:r>
              <a:rPr lang="en-US" sz="2400" dirty="0">
                <a:solidFill>
                  <a:schemeClr val="tx1"/>
                </a:solidFill>
              </a:rPr>
              <a:t> (PBR)</a:t>
            </a:r>
          </a:p>
          <a:p>
            <a:pPr fontAlgn="base"/>
            <a:r>
              <a:rPr lang="en-US" sz="2400" dirty="0">
                <a:solidFill>
                  <a:schemeClr val="tx1"/>
                </a:solidFill>
              </a:rPr>
              <a:t>Antialiasing</a:t>
            </a:r>
          </a:p>
          <a:p>
            <a:pPr fontAlgn="base"/>
            <a:r>
              <a:rPr lang="en-US" sz="2400" dirty="0" err="1">
                <a:solidFill>
                  <a:schemeClr val="tx1"/>
                </a:solidFill>
              </a:rPr>
              <a:t>Efecte</a:t>
            </a:r>
            <a:r>
              <a:rPr lang="en-US" sz="2400" dirty="0">
                <a:solidFill>
                  <a:schemeClr val="tx1"/>
                </a:solidFill>
              </a:rPr>
              <a:t> de post-</a:t>
            </a:r>
            <a:r>
              <a:rPr lang="en-US" sz="2400" dirty="0" err="1">
                <a:solidFill>
                  <a:schemeClr val="tx1"/>
                </a:solidFill>
              </a:rPr>
              <a:t>procesare</a:t>
            </a:r>
            <a:r>
              <a:rPr lang="en-US" sz="2400" dirty="0">
                <a:solidFill>
                  <a:schemeClr val="tx1"/>
                </a:solidFill>
              </a:rPr>
              <a:t> (HDR, bloom)</a:t>
            </a:r>
          </a:p>
        </p:txBody>
      </p:sp>
    </p:spTree>
    <p:extLst>
      <p:ext uri="{BB962C8B-B14F-4D97-AF65-F5344CB8AC3E}">
        <p14:creationId xmlns:p14="http://schemas.microsoft.com/office/powerpoint/2010/main" val="25869144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ipple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98B13-67E7-3B26-CF19-2A1AC46EB8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4212" y="685799"/>
            <a:ext cx="5411788" cy="2971801"/>
          </a:xfrm>
        </p:spPr>
        <p:txBody>
          <a:bodyPr/>
          <a:lstStyle/>
          <a:p>
            <a:pPr algn="ctr"/>
            <a:r>
              <a:rPr lang="en-US" dirty="0" err="1"/>
              <a:t>Multumesc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atentie</a:t>
            </a:r>
            <a:endParaRPr lang="en-US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FC7F5019-AE06-8973-0A3B-B2FE313DFF9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27903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ipple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CC6B106-EA52-EE09-E6D8-E0E3F727CA7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DEMO TIME 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7260E826-3DF5-8DCF-8606-A1B8576300A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038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ipple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185</TotalTime>
  <Words>586</Words>
  <Application>Microsoft Office PowerPoint</Application>
  <PresentationFormat>Widescreen</PresentationFormat>
  <Paragraphs>52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Century Gothic</vt:lpstr>
      <vt:lpstr>Wingdings 3</vt:lpstr>
      <vt:lpstr>Slice</vt:lpstr>
      <vt:lpstr>Randarea Apei folosind Metoda Sumei Sinusurilor </vt:lpstr>
      <vt:lpstr>Introducere</vt:lpstr>
      <vt:lpstr>Metode de simulare a apei IN TIMP REAL</vt:lpstr>
      <vt:lpstr>Diagrama de clase</vt:lpstr>
      <vt:lpstr>Apa: Vertex SHADER</vt:lpstr>
      <vt:lpstr>Apa: Fragment shader</vt:lpstr>
      <vt:lpstr>Skybox</vt:lpstr>
      <vt:lpstr>Rata</vt:lpstr>
      <vt:lpstr>Rezultat</vt:lpstr>
      <vt:lpstr>Concluzii</vt:lpstr>
      <vt:lpstr>Potențiale Îmbunătățiri pe viitor</vt:lpstr>
      <vt:lpstr>Multumesc pentru atentie</vt:lpstr>
      <vt:lpstr>DEMO TIME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Sabin Gabriel Gorea</dc:creator>
  <cp:lastModifiedBy>Sabin Gabriel Gorea</cp:lastModifiedBy>
  <cp:revision>4</cp:revision>
  <dcterms:created xsi:type="dcterms:W3CDTF">2026-05-24T10:07:03Z</dcterms:created>
  <dcterms:modified xsi:type="dcterms:W3CDTF">2026-05-24T13:14:00Z</dcterms:modified>
</cp:coreProperties>
</file>